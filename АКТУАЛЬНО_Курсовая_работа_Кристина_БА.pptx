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83" r:id="rId6"/>
    <p:sldId id="373" r:id="rId7"/>
    <p:sldId id="384" r:id="rId8"/>
    <p:sldId id="374" r:id="rId9"/>
    <p:sldId id="386" r:id="rId10"/>
    <p:sldId id="387" r:id="rId11"/>
    <p:sldId id="388" r:id="rId12"/>
    <p:sldId id="389" r:id="rId13"/>
    <p:sldId id="390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 showGuides="1">
      <p:cViewPr varScale="1">
        <p:scale>
          <a:sx n="60" d="100"/>
          <a:sy n="60" d="100"/>
        </p:scale>
        <p:origin x="96" y="12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80" d="100"/>
          <a:sy n="80" d="100"/>
        </p:scale>
        <p:origin x="3996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170D80F0-0B6E-42C5-98A4-3D8F934A6F73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9E9D61A1-75D9-49F7-83EB-F5872642613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C95BFD6A-701E-4904-8222-6076900F364F}" type="datetime1">
              <a:rPr lang="ru-RU" smtClean="0"/>
              <a:pPr/>
              <a:t>09.06.2026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EF75CB5-5666-5049-9AE0-38EFD385C21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Объект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Графический объект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ru-RU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ru-RU" sz="32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ru-RU" sz="24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ru-RU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2 столбц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Графический объект 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Графический объект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7" name="Графический объект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ru-RU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Рисунок 5" descr="Сине-лиловая спираль&#10;&#10;Автоматически созданное описание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Графический объект 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2" name="Графический объект 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Графический объект 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0" name="Графический объект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21" name="Объект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Графический объект 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Графический объект 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Графический объект 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2" name="Заполнитель таблицы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Заполнитель таблицы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18" name="Графический объект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pic>
          <p:nvPicPr>
            <p:cNvPr id="4" name="Объект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ru-RU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ru-RU" dirty="0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ru-RU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pmepleaseitishard/ClickerGame/tree/master/server" TargetMode="External"/><Relationship Id="rId2" Type="http://schemas.openxmlformats.org/officeDocument/2006/relationships/hyperlink" Target="https://github.com/Helpmepleaseitishard/ClickerGame/tree/master/app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rive.google.com/drive/folders/1gB2bI6WGehZJeEGMJ6iElfAyzcA1NnUL?hl=ru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rtlCol="0" anchor="b"/>
          <a:lstStyle>
            <a:defPPr>
              <a:defRPr lang="ru-RU"/>
            </a:defPPr>
          </a:lstStyle>
          <a:p>
            <a:pPr rtl="0"/>
            <a:r>
              <a:rPr lang="ru-RU" sz="7200" dirty="0"/>
              <a:t>Курсовая работа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5297E-9D40-9878-936F-91A78FB33E95}"/>
              </a:ext>
            </a:extLst>
          </p:cNvPr>
          <p:cNvSpPr txBox="1"/>
          <p:nvPr/>
        </p:nvSpPr>
        <p:spPr>
          <a:xfrm>
            <a:off x="1316393" y="3429000"/>
            <a:ext cx="9460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Разработка клиент-серверной мобильной игры в жанре </a:t>
            </a:r>
            <a:r>
              <a:rPr lang="ru-RU" sz="2400" b="1" i="0" dirty="0" err="1">
                <a:solidFill>
                  <a:schemeClr val="bg1"/>
                </a:solidFill>
                <a:effectLst/>
                <a:latin typeface="quote-cjk-patch"/>
              </a:rPr>
              <a:t>кликер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 для операционной системы </a:t>
            </a:r>
            <a:r>
              <a:rPr lang="ru-RU" sz="2400" b="1" i="0" dirty="0" err="1">
                <a:solidFill>
                  <a:schemeClr val="bg1"/>
                </a:solidFill>
                <a:effectLst/>
                <a:latin typeface="quote-cjk-patch"/>
              </a:rPr>
              <a:t>Android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 на языке </a:t>
            </a:r>
            <a:r>
              <a:rPr lang="ru-RU" sz="2400" b="1" i="0" dirty="0" err="1">
                <a:solidFill>
                  <a:schemeClr val="bg1"/>
                </a:solidFill>
                <a:effectLst/>
                <a:latin typeface="quote-cjk-patch"/>
              </a:rPr>
              <a:t>Kotlin</a:t>
            </a:r>
            <a:endParaRPr lang="ru-RU" sz="2400" b="1" i="0" dirty="0">
              <a:solidFill>
                <a:schemeClr val="bg1"/>
              </a:solidFill>
              <a:effectLst/>
              <a:latin typeface="quote-cjk-patch"/>
            </a:endParaRPr>
          </a:p>
          <a:p>
            <a:pPr rtl="0"/>
            <a:r>
              <a:rPr lang="ru-RU" sz="2400" dirty="0">
                <a:solidFill>
                  <a:schemeClr val="accent3"/>
                </a:solidFill>
              </a:rPr>
              <a:t>Представила: Кристина Богачева Андреевна, ИКБО-65-23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8FE3AC9-DD71-D040-B845-AB60380F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8" y="-383057"/>
            <a:ext cx="11930742" cy="1446747"/>
          </a:xfrm>
        </p:spPr>
        <p:txBody>
          <a:bodyPr/>
          <a:lstStyle/>
          <a:p>
            <a:r>
              <a:rPr lang="ru-RU" sz="4800" dirty="0"/>
              <a:t>Введение и актуальность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FAF18-4167-40D1-17F5-A7AF4751A16C}"/>
              </a:ext>
            </a:extLst>
          </p:cNvPr>
          <p:cNvSpPr txBox="1"/>
          <p:nvPr/>
        </p:nvSpPr>
        <p:spPr>
          <a:xfrm>
            <a:off x="261258" y="1129748"/>
            <a:ext cx="114393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Мобильные игры-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кликеры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(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Cookie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Clicker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Tap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Titans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Adventure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Capitalist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) популярны благодаря простоте и быстрому дофамину.</a:t>
            </a:r>
          </a:p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Однако в большинстве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кликеров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отсутствует 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quote-cjk-patch"/>
              </a:rPr>
              <a:t>социальный элемент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 – таблица рекордов, поиск друзей, соревнование.</a:t>
            </a:r>
          </a:p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Существующие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кликеры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либо не имеют онлайн-рейтинга, либо требуют постоянного интернета без сохранения прогресса.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60853-DEA9-016D-80F5-6C7421D1754E}"/>
              </a:ext>
            </a:extLst>
          </p:cNvPr>
          <p:cNvSpPr txBox="1"/>
          <p:nvPr/>
        </p:nvSpPr>
        <p:spPr>
          <a:xfrm>
            <a:off x="5626359" y="3406789"/>
            <a:ext cx="68828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Наше приложение</a:t>
            </a:r>
            <a:r>
              <a:rPr lang="ru-RU" sz="2400" b="0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сочетает: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классический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кликер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(нажатие на картинку → увеличение счёта);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регистрацию и аутентификацию пользователей;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глобальную таблицу рекордов (топ-20 игроков);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поиск по никам с сохранением последних 5 запросов;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сохранение счёта на сервере (прогресс не теряется при смене устройства).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0D9A05F-4D93-B08E-6BCC-48278BCDD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4" y="3406789"/>
            <a:ext cx="5271796" cy="333924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CF7DEA53-AE52-3CCE-64D4-9C685038F1A6}"/>
              </a:ext>
            </a:extLst>
          </p:cNvPr>
          <p:cNvSpPr txBox="1">
            <a:spLocks/>
          </p:cNvSpPr>
          <p:nvPr/>
        </p:nvSpPr>
        <p:spPr>
          <a:xfrm>
            <a:off x="9327583" y="6408760"/>
            <a:ext cx="2743200" cy="365125"/>
          </a:xfrm>
          <a:prstGeom prst="rect">
            <a:avLst/>
          </a:prstGeom>
        </p:spPr>
        <p:txBody>
          <a:bodyPr rtlCol="0"/>
          <a:lstStyle>
            <a:defPPr rtl="0">
              <a:defRPr lang="ru-RU"/>
            </a:defPPr>
            <a:lvl1pPr marL="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024F78-56A6-7740-B68D-8D4D026EDF3F}" type="slidenum">
              <a:rPr lang="ru-RU" sz="1200" smtClean="0">
                <a:solidFill>
                  <a:schemeClr val="bg1"/>
                </a:solidFill>
              </a:rPr>
              <a:pPr algn="r"/>
              <a:t>2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72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E024F78-56A6-7740-B68D-8D4D026EDF3F}" type="slidenum">
              <a:rPr lang="ru-RU" smtClean="0"/>
              <a:pPr rtl="0"/>
              <a:t>3</a:t>
            </a:fld>
            <a:endParaRPr lang="ru-RU" dirty="0"/>
          </a:p>
        </p:txBody>
      </p:sp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8D39C6D7-771A-1CF0-C1D5-412A5B723AE4}"/>
              </a:ext>
            </a:extLst>
          </p:cNvPr>
          <p:cNvSpPr txBox="1">
            <a:spLocks/>
          </p:cNvSpPr>
          <p:nvPr/>
        </p:nvSpPr>
        <p:spPr>
          <a:xfrm>
            <a:off x="1062892" y="266677"/>
            <a:ext cx="10066213" cy="14467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200" kern="1200" cap="all" spc="300" baseline="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</a:rPr>
              <a:t>Обзор существующих аналогов</a:t>
            </a:r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00843536-BBF5-201C-B343-47460FA1B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974802"/>
              </p:ext>
            </p:extLst>
          </p:nvPr>
        </p:nvGraphicFramePr>
        <p:xfrm>
          <a:off x="2031998" y="1830231"/>
          <a:ext cx="8128000" cy="45731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5597223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573881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38683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194515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83987393"/>
                    </a:ext>
                  </a:extLst>
                </a:gridCol>
              </a:tblGrid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sz="11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Cookie Clicker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Adventure 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Capitalist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Clicker Heroes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ClickerGame 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(наш проект)</a:t>
                      </a:r>
                      <a:endParaRPr lang="ru-RU" sz="11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104302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Платформы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en-US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iOS,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en-US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Windows, iOS,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</a:t>
                      </a:r>
                      <a:r>
                        <a:rPr lang="en-US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109143"/>
                  </a:ext>
                </a:extLst>
              </a:tr>
              <a:tr h="5978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Серверное сохранение прогресса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(локальное)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(через 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аккаунт)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r>
                        <a:rPr lang="en-US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через</a:t>
                      </a:r>
                      <a:r>
                        <a:rPr lang="en-US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Google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en-US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/Apple ID)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(собственный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10458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Глобальный рейтинг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игроков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 (только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события)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(топ-20)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836689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других игроков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(по логину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история)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813059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Открытое REST API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(исходный код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600218"/>
                  </a:ext>
                </a:extLst>
              </a:tr>
              <a:tr h="7126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Мгновенная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кликов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применимо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Отложенная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Отложенная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 (каждый клик отправляется)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048858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Технологический стек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 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(браузер)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C#, Unity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C#, Unity</a:t>
                      </a:r>
                      <a:endParaRPr lang="ru-RU" sz="1100" b="0" i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Kotlin</a:t>
                      </a: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200" b="0" i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</a:pP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ru-RU" sz="1200" b="0" i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Ktor</a:t>
                      </a:r>
                      <a:r>
                        <a:rPr lang="ru-RU" sz="1200" b="0" i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(JVM)</a:t>
                      </a:r>
                      <a:endParaRPr lang="ru-RU" sz="1100" b="0" i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22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7B878B-8CCC-51A2-BCD4-4F4031A8CA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pPr rtl="0"/>
            <a:fld id="{FE024F78-56A6-7740-B68D-8D4D026EDF3F}" type="slidenum">
              <a:rPr lang="ru-RU" smtClean="0"/>
              <a:pPr rtl="0"/>
              <a:t>4</a:t>
            </a:fld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6E018-54FF-D3B4-A498-C89EADA58576}"/>
              </a:ext>
            </a:extLst>
          </p:cNvPr>
          <p:cNvSpPr txBox="1"/>
          <p:nvPr/>
        </p:nvSpPr>
        <p:spPr>
          <a:xfrm>
            <a:off x="1122783" y="266700"/>
            <a:ext cx="99464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Функциональные требования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5A73AE4-04B8-27BF-547D-FB67C2B15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auto">
          <a:xfrm>
            <a:off x="1466057" y="1097697"/>
            <a:ext cx="9364510" cy="5493603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35069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E024F78-56A6-7740-B68D-8D4D026EDF3F}" type="slidenum">
              <a:rPr lang="ru-RU" smtClean="0"/>
              <a:pPr rtl="0"/>
              <a:t>5</a:t>
            </a:fld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EC240D-D41C-2D69-CA63-3692CC53E54F}"/>
              </a:ext>
            </a:extLst>
          </p:cNvPr>
          <p:cNvSpPr txBox="1"/>
          <p:nvPr/>
        </p:nvSpPr>
        <p:spPr>
          <a:xfrm>
            <a:off x="69980" y="0"/>
            <a:ext cx="54490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Технологии разработки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7D0B92-79C8-6C59-D23B-80BAF024C794}"/>
              </a:ext>
            </a:extLst>
          </p:cNvPr>
          <p:cNvSpPr txBox="1"/>
          <p:nvPr/>
        </p:nvSpPr>
        <p:spPr>
          <a:xfrm>
            <a:off x="97972" y="1581108"/>
            <a:ext cx="59296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Клиентская часть:</a:t>
            </a:r>
            <a:endParaRPr lang="ru-RU" b="0" i="0" dirty="0">
              <a:solidFill>
                <a:schemeClr val="accent3">
                  <a:lumMod val="7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Kotlin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Android SDK (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minSdk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24,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targetSdk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34)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Ktor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Client (CIO engine) –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все сетевые запросы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Material Design Components –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MaterialButton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ChipGroup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CardView</a:t>
            </a:r>
            <a:endParaRPr lang="en-US" b="0" i="0" dirty="0">
              <a:solidFill>
                <a:schemeClr val="bg1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Glide –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загрузка фоновых изображений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Coroutines (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lifecycleScope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SharedPreferences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–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хранение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userId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локального кэша счёта, истории поиска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EB0E29-B9E1-8E1A-A55E-D67AFA62AB33}"/>
              </a:ext>
            </a:extLst>
          </p:cNvPr>
          <p:cNvSpPr txBox="1"/>
          <p:nvPr/>
        </p:nvSpPr>
        <p:spPr>
          <a:xfrm>
            <a:off x="92740" y="4454878"/>
            <a:ext cx="62048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 err="1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Серверная</a:t>
            </a:r>
            <a:r>
              <a:rPr lang="en-US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 </a:t>
            </a:r>
            <a:r>
              <a:rPr lang="en-US" b="1" i="0" dirty="0" err="1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часть</a:t>
            </a:r>
            <a:r>
              <a:rPr lang="en-US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:</a:t>
            </a:r>
            <a:endParaRPr lang="en-US" b="0" i="0" dirty="0">
              <a:solidFill>
                <a:schemeClr val="accent3">
                  <a:lumMod val="7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Kotlin +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Ktor</a:t>
            </a:r>
            <a:endParaRPr lang="en-US" b="0" i="0" dirty="0">
              <a:solidFill>
                <a:schemeClr val="bg1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Exposed ORM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SQLite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bg1"/>
                </a:solidFill>
                <a:effectLst/>
                <a:latin typeface="quote-cjk-patch"/>
              </a:rPr>
              <a:t>Logback</a:t>
            </a:r>
            <a:endParaRPr lang="en-US" b="0" i="0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BC66F-FB86-8269-B6D9-5AF4B5551A10}"/>
              </a:ext>
            </a:extLst>
          </p:cNvPr>
          <p:cNvSpPr txBox="1"/>
          <p:nvPr/>
        </p:nvSpPr>
        <p:spPr>
          <a:xfrm>
            <a:off x="92740" y="6039428"/>
            <a:ext cx="620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Среда разработки:</a:t>
            </a:r>
            <a:r>
              <a:rPr lang="ru-RU" b="0" i="0" dirty="0">
                <a:solidFill>
                  <a:schemeClr val="accent3">
                    <a:lumMod val="75000"/>
                  </a:schemeClr>
                </a:solidFill>
                <a:effectLst/>
                <a:latin typeface="quote-cjk-patch"/>
              </a:rPr>
              <a:t> </a:t>
            </a: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Android Studio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B9FF510-CEBF-44DD-990B-38D44C65C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084" y="266677"/>
            <a:ext cx="2808312" cy="62400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79DB117-EBF5-342C-0055-203C0DF01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408" y="5342689"/>
            <a:ext cx="3071664" cy="153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B466EB-3E6D-DF10-F2E0-E24DDD45DC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pPr rtl="0"/>
            <a:fld id="{FE024F78-56A6-7740-B68D-8D4D026EDF3F}" type="slidenum">
              <a:rPr lang="ru-RU" smtClean="0"/>
              <a:pPr rtl="0"/>
              <a:t>6</a:t>
            </a:fld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D683FE-4DAA-D279-0F72-6B3FDB1B72DB}"/>
              </a:ext>
            </a:extLst>
          </p:cNvPr>
          <p:cNvSpPr txBox="1"/>
          <p:nvPr/>
        </p:nvSpPr>
        <p:spPr>
          <a:xfrm>
            <a:off x="323461" y="631825"/>
            <a:ext cx="539775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j-lt"/>
              </a:rPr>
              <a:t>Основные моменты архитектуры: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Монолитная структура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 (один модуль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enlo"/>
              </a:rPr>
              <a:t>app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Слои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Presentation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Activities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 +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Adapter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Domain: модель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nlo"/>
              </a:rPr>
              <a:t>Player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Data: сетевой слой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Ktor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 Client) и локальное хранилище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SharedPreferences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, кэш счёта, история поиска).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External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Ktor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Взаимодействие через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корутины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: все сетевые вызовы асинхронны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enlo"/>
              </a:rPr>
              <a:t>lifecycleScope.launch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Ручной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парсинг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 JSON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 (без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сериализации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) для простоты и надёжности.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84C8391-7994-96C0-1410-1597E967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038" y="951722"/>
            <a:ext cx="6543782" cy="51277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0233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82BACC0-5123-D453-B19D-7181C2C3CD26}"/>
              </a:ext>
            </a:extLst>
          </p:cNvPr>
          <p:cNvSpPr txBox="1"/>
          <p:nvPr/>
        </p:nvSpPr>
        <p:spPr>
          <a:xfrm>
            <a:off x="1827245" y="328517"/>
            <a:ext cx="8537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Модель хранения данных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6EB51E5-1AEB-B7BA-B8F6-88332137B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703" y="2147880"/>
            <a:ext cx="9410593" cy="319856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0403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429648-FEB9-AB33-24CF-D0F93004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85" y="906468"/>
            <a:ext cx="10486029" cy="541829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597894-6B99-D852-0887-9DF019AA4DA4}"/>
              </a:ext>
            </a:extLst>
          </p:cNvPr>
          <p:cNvSpPr txBox="1"/>
          <p:nvPr/>
        </p:nvSpPr>
        <p:spPr>
          <a:xfrm>
            <a:off x="3202343" y="198582"/>
            <a:ext cx="57873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Экраны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74046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BEBA8E-751F-B4F9-5476-155736B7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189706"/>
            <a:ext cx="2743200" cy="365125"/>
          </a:xfrm>
        </p:spPr>
        <p:txBody>
          <a:bodyPr/>
          <a:lstStyle/>
          <a:p>
            <a:pPr rtl="0"/>
            <a:fld id="{FE024F78-56A6-7740-B68D-8D4D026EDF3F}" type="slidenum">
              <a:rPr lang="ru-RU" smtClean="0"/>
              <a:pPr rtl="0"/>
              <a:t>9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BE09E-05BC-628A-C573-576626D1C457}"/>
              </a:ext>
            </a:extLst>
          </p:cNvPr>
          <p:cNvSpPr txBox="1"/>
          <p:nvPr/>
        </p:nvSpPr>
        <p:spPr>
          <a:xfrm>
            <a:off x="331772" y="623396"/>
            <a:ext cx="41894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Заключение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B8AE0-F722-EE7E-5901-4F9221D56D82}"/>
              </a:ext>
            </a:extLst>
          </p:cNvPr>
          <p:cNvSpPr txBox="1"/>
          <p:nvPr/>
        </p:nvSpPr>
        <p:spPr>
          <a:xfrm>
            <a:off x="371475" y="1323116"/>
            <a:ext cx="56094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В ходе выполнения курсовой работы было спроектировано и разработано полностью функционирующее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кликер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-приложение с социальной составляющей (общий рейтинг). Реализованы регистрация, аутентификация, сохранение прогресса на сервере, поиск игроков, история запросов. Серверная часть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Ktor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 +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Exposed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 +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SQLite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 обеспечивает масштабируемость. Клиентское приложение интуитивно понятно, поддерживает офлайн-кэш счёта.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FE0CEA-CDE7-AD18-D485-7D792C2F63DF}"/>
              </a:ext>
            </a:extLst>
          </p:cNvPr>
          <p:cNvSpPr txBox="1"/>
          <p:nvPr/>
        </p:nvSpPr>
        <p:spPr>
          <a:xfrm>
            <a:off x="331772" y="4250752"/>
            <a:ext cx="61022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Планы развития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4B42E-A27B-1675-9BAA-E4C61CE1C984}"/>
              </a:ext>
            </a:extLst>
          </p:cNvPr>
          <p:cNvSpPr txBox="1"/>
          <p:nvPr/>
        </p:nvSpPr>
        <p:spPr>
          <a:xfrm>
            <a:off x="371475" y="4997126"/>
            <a:ext cx="61022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Добавить анимацию при клике (увеличение/тряска картинки).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Реализовать смену аватаров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quote-cjk-patch"/>
              </a:rPr>
              <a:t>кастомные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 иконки кликов.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Ввести ежедневные бонусы и достижения.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Добавить уведомления о рекордах друзей.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790D6E-6A77-A6C9-E5AC-6EC5DDB9FB00}"/>
              </a:ext>
            </a:extLst>
          </p:cNvPr>
          <p:cNvSpPr txBox="1"/>
          <p:nvPr/>
        </p:nvSpPr>
        <p:spPr>
          <a:xfrm>
            <a:off x="7254552" y="623396"/>
            <a:ext cx="48659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Исходный код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01D1AC35-ABAC-619A-082A-7AD80F935693}"/>
              </a:ext>
            </a:extLst>
          </p:cNvPr>
          <p:cNvSpPr/>
          <p:nvPr/>
        </p:nvSpPr>
        <p:spPr>
          <a:xfrm>
            <a:off x="7489454" y="1958763"/>
            <a:ext cx="3402644" cy="83042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BAEFB-75A0-16B6-7CEC-F68DB0614202}"/>
              </a:ext>
            </a:extLst>
          </p:cNvPr>
          <p:cNvSpPr/>
          <p:nvPr/>
        </p:nvSpPr>
        <p:spPr>
          <a:xfrm>
            <a:off x="7489454" y="3701136"/>
            <a:ext cx="3402644" cy="83042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8329C7-BAF5-EF1D-0F53-184CA28D30A2}"/>
              </a:ext>
            </a:extLst>
          </p:cNvPr>
          <p:cNvSpPr txBox="1"/>
          <p:nvPr/>
        </p:nvSpPr>
        <p:spPr>
          <a:xfrm>
            <a:off x="7311496" y="1335654"/>
            <a:ext cx="3963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Клиентская часть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5D6E54-0368-FD0D-B869-AB607E76A95C}"/>
              </a:ext>
            </a:extLst>
          </p:cNvPr>
          <p:cNvSpPr txBox="1"/>
          <p:nvPr/>
        </p:nvSpPr>
        <p:spPr>
          <a:xfrm>
            <a:off x="7366418" y="3073720"/>
            <a:ext cx="3740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Серверная часть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0882C1-DDFB-CCFD-7E6B-B389BB627EAE}"/>
              </a:ext>
            </a:extLst>
          </p:cNvPr>
          <p:cNvSpPr txBox="1"/>
          <p:nvPr/>
        </p:nvSpPr>
        <p:spPr>
          <a:xfrm>
            <a:off x="8001001" y="4839587"/>
            <a:ext cx="3740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Демо видео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A027950-DBF0-3E7D-FDE7-1D5159A316B0}"/>
              </a:ext>
            </a:extLst>
          </p:cNvPr>
          <p:cNvSpPr/>
          <p:nvPr/>
        </p:nvSpPr>
        <p:spPr>
          <a:xfrm>
            <a:off x="7592172" y="5462869"/>
            <a:ext cx="3402644" cy="83042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Посмотреть</a:t>
            </a:r>
            <a:endParaRPr lang="ru-RU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96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2EC64F8-C402-7ACD-2EA7-2DA893B4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0032"/>
            <a:ext cx="12191998" cy="3215641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2BEBAE-5F33-4B9F-3EB1-39161A9BAA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pPr rtl="0"/>
            <a:fld id="{FE024F78-56A6-7740-B68D-8D4D026EDF3F}" type="slidenum">
              <a:rPr lang="ru-RU" smtClean="0"/>
              <a:pPr rtl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176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Пользовательская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608_TF11936837_Win32.potx" id="{B72F49F3-09E2-4865-8A2A-AA9B2A757565}" vid="{A5849C83-848C-4432-B41C-6248F8F45B6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71af3243-3dd4-4a8d-8c0d-dd76da1f02a5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schemas.microsoft.com/sharepoint/v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для результатов научных исследований</Template>
  <TotalTime>156</TotalTime>
  <Words>515</Words>
  <Application>Microsoft Office PowerPoint</Application>
  <PresentationFormat>Широкоэкранный</PresentationFormat>
  <Paragraphs>123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Arial Nova</vt:lpstr>
      <vt:lpstr>Biome</vt:lpstr>
      <vt:lpstr>Calibri</vt:lpstr>
      <vt:lpstr>Menlo</vt:lpstr>
      <vt:lpstr>quote-cjk-patch</vt:lpstr>
      <vt:lpstr>Times New Roman</vt:lpstr>
      <vt:lpstr>Пользовательская</vt:lpstr>
      <vt:lpstr>Курсовая работа</vt:lpstr>
      <vt:lpstr>Введение и актуальность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Игнат Некрасов</dc:creator>
  <cp:lastModifiedBy>Marina Bogacheva</cp:lastModifiedBy>
  <cp:revision>3</cp:revision>
  <dcterms:created xsi:type="dcterms:W3CDTF">2026-06-08T10:39:49Z</dcterms:created>
  <dcterms:modified xsi:type="dcterms:W3CDTF">2026-06-09T06:20:43Z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